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0"/>
                </a:solidFill>
                <a:latin typeface="Calibri"/>
              </a:rPr>
              <a:t>Rows flagged for manual review, per paper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pipeline</c:v>
                </c:pt>
              </c:strCache>
            </c:strRef>
          </c:tx>
          <c:spPr>
            <a:solidFill>
              <a:srgbClr val="C4C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3E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2018 · session 1</c:v>
                  </c:pt>
                  <c:pt idx="1">
                    <c:v>2019 · session 2</c:v>
                  </c:pt>
                  <c:pt idx="2">
                    <c:v>2021 · session 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Canonical parser</c:v>
                </c:pt>
              </c:strCache>
            </c:strRef>
          </c:tx>
          <c:spPr>
            <a:solidFill>
              <a:srgbClr val="2A7F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3E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2018 · session 1</c:v>
                  </c:pt>
                  <c:pt idx="1">
                    <c:v>2019 · session 2</c:v>
                  </c:pt>
                  <c:pt idx="2">
                    <c:v>2021 · session 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C3E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12700" cap="flat">
              <a:solidFill>
                <a:srgbClr val="E3E9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in Arabic. One line: we build automations that run on the client's own documents and data, not on whatever the model happened to learn. Everything after this slide is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الفكرة الأساسية — الذكاء الاصطناعي الجاهز يجاوب بثقة حتى لما يكون غلط. Ask the mentor: if the answer is wrong but sounds right, who catches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ست خدمات، كلها مبنية على محتوى الزبون. The last line matters — we run open models on your own server when the data is sensitive. Most people pitching AI cannot offer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نفس الهندسة بتشتغل بأي قطاع. Ask the mentor which of the four is closest to his business, then use his answer for the rest of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منبلش بتشخيص، مش بعقد. The audit is a real methodology I was trained in — four questions, then an opportunity map. Say that the map is the client's to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هيدا مثال حقيقي بنيته — امتحانات الشهادة الثانوية. Say plainly: this is our own product, we built it and we run it. That is why we can show you what went wrong inside it. The key-lock line is a design decision, not a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هون صار أهم شي بالمشروع — النموذج اخترع تلت أجوبة وكانت مقنعة. Slow down here. This slide is the reason the mentor should trust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شلنا النموذج من المكان يلي الخطأ فيه ما بينشاف. The model still writes explanations to students — it just no longer decides what the exam 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صفر صفوف بدها مراجعة يدوية. The 118 tests matter: they are what let us change the code without breaking the papers we already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نفس المبدأ بينطبق على أي محتوى تبع الزبون. This is the bridge slide — move from my product to their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الفرق مش بالنموذج، الفرق بالهندسة يلي حواليه. If the mentor pushes back with "I can just use ChatGPT" — this is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منبلش بتشخيص، مش بعقد. The audit is the ask — it is small, it is concrete, and it is the thing I am actually trained to run. Finish by asking which process he would want mapped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051560"/>
            <a:ext cx="3749040" cy="3749040"/>
          </a:xfrm>
          <a:prstGeom prst="ellipse">
            <a:avLst/>
          </a:prstGeom>
          <a:solidFill>
            <a:srgbClr val="15464E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1691640"/>
            <a:ext cx="2468880" cy="246888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4" name="Shape 2"/>
          <p:cNvSpPr/>
          <p:nvPr/>
        </p:nvSpPr>
        <p:spPr>
          <a:xfrm>
            <a:off x="9555480" y="2331720"/>
            <a:ext cx="1188720" cy="1188720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AUTOMATION  SERVICES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content.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rules.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0690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C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built on your own material — and able to prove they did not invent any of it.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760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Chehade   ·   Webzone   ·   AI Automation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 is confident about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it does not know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615184"/>
            <a:ext cx="484632" cy="484632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61518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4780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source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2459736"/>
            <a:ext cx="58823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from the internet, not from your curriculum, your policies or your catalogue.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33272" y="3895344"/>
            <a:ext cx="484632" cy="484632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33272" y="389534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7581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mistakes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739896"/>
            <a:ext cx="58823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fluent and well formatted, so nobody re-checks it. Errors ship looking correct.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89204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33272" y="5175504"/>
            <a:ext cx="484632" cy="484632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33272" y="517550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50383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work stays manual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5020056"/>
            <a:ext cx="58823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still re-type, re-check and re-format. The tool saved a draft, not a process.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we build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84832"/>
            <a:ext cx="411480" cy="41148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2057400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processing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0604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CVs, contracts and forms read once and filed as data — with a summary to whoever needs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82880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9218" y="2084832"/>
            <a:ext cx="411480" cy="41148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19218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40426" y="2057400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assistant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260604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policies, manuals and catalogue, answerable in chat. In scope it answers; out of scope it says so.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2557" y="182880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2597" y="2084832"/>
            <a:ext cx="411480" cy="41148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32597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53805" y="2057400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lead capture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260604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submission becomes a record in your database and an instant notification to the right person.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79476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050792"/>
            <a:ext cx="411480" cy="41148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27048" y="4023360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 assistant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57200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mail read and sorted, with a reply drafted for a human to approve before it goes out.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99178" y="379476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9218" y="4050792"/>
            <a:ext cx="411480" cy="41148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19218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40426" y="4023360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reporting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719218" y="457200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pulled on a schedule, summarised, and sitting in your inbox on Monday morning.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12557" y="3794760"/>
            <a:ext cx="3393338" cy="1691640"/>
          </a:xfrm>
          <a:prstGeom prst="roundRect">
            <a:avLst>
              <a:gd name="adj" fmla="val 4324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2597" y="4050792"/>
            <a:ext cx="411480" cy="41148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32597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953805" y="4023360"/>
            <a:ext cx="2250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training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432597" y="4572000"/>
            <a:ext cx="2753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served, answers marked against the official key, results explained and tracked per person.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5321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models where speed matters. Local models when the data cannot leave the building.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SHOWS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three parts, different business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27168" cy="1691640"/>
          </a:xfrm>
          <a:prstGeom prst="roundRect">
            <a:avLst>
              <a:gd name="adj" fmla="val 4324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48256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clinic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96312"/>
            <a:ext cx="440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forms and referral letters arrive as PDFs and get re-typed by hand. The pipeline reads them and files them — on a local model, so nothing leaves the building.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8728" y="1828800"/>
            <a:ext cx="5227168" cy="1691640"/>
          </a:xfrm>
          <a:prstGeom prst="roundRect">
            <a:avLst>
              <a:gd name="adj" fmla="val 4324"/>
            </a:avLst>
          </a:prstGeom>
          <a:solidFill>
            <a:srgbClr val="F6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90208" y="2048256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law firm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90208" y="2496312"/>
            <a:ext cx="440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years of contracts nobody can search. An assistant answers from them and quotes the clause it used, so the answer can be checked in seconds.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5227168" cy="1691640"/>
          </a:xfrm>
          <a:prstGeom prst="roundRect">
            <a:avLst>
              <a:gd name="adj" fmla="val 4324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97280" y="4014216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distributor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462272"/>
            <a:ext cx="440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arrive by email and WhatsApp in a dozen formats. They come out as one clean table, and the warehouse is notified as they land.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8728" y="3794760"/>
            <a:ext cx="5227168" cy="1691640"/>
          </a:xfrm>
          <a:prstGeom prst="roundRect">
            <a:avLst>
              <a:gd name="adj" fmla="val 4324"/>
            </a:avLst>
          </a:prstGeom>
          <a:solidFill>
            <a:srgbClr val="F6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90208" y="4014216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or training centre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90208" y="4462272"/>
            <a:ext cx="440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served automatically, marked against the official answers, and progress tracked per student instead of per stack of paper.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5321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document. Ground the answer. Automate what follows. The industry changes; the three parts do not.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starts with an audit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A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with the people doing the work and ask four questions: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15468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tools are you using today?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time going to repetitive work?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data stuck — a spreadsheet, an inbox, someone's head?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decisions get made every day that follow a pattern?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846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scored map of the opportunities — whether or not you hire us.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5013655" cy="1143000"/>
          </a:xfrm>
          <a:prstGeom prst="roundRect">
            <a:avLst>
              <a:gd name="adj" fmla="val 6400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0" y="199339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A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993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450592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about two weeks. Real documents, real output, no slideware.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3108960"/>
            <a:ext cx="5013655" cy="1143000"/>
          </a:xfrm>
          <a:prstGeom prst="roundRect">
            <a:avLst>
              <a:gd name="adj" fmla="val 6400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0" y="327355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A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3273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730752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edge cases, failure handling — and a check that catches silent errors, not just loud ones.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4389120"/>
            <a:ext cx="5013655" cy="1143000"/>
          </a:xfrm>
          <a:prstGeom prst="roundRect">
            <a:avLst>
              <a:gd name="adj" fmla="val 6400"/>
            </a:avLst>
          </a:prstGeom>
          <a:solidFill>
            <a:srgbClr val="E9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58000" y="455371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A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4553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5010912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workflow, the data and the keys. We stay for support, not for leverage.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6692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working output in week two. Nothing is built for six months behind a closed door.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exam-prep system for the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Lebanese Baccalaureate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7744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opens a chat and sits a real past paper, question by question, in Arabic.</a:t>
            </a:r>
            <a:endParaRPr lang="en-US" sz="15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question, its marks and its official answer key come out of the ministry papers themselves.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graded against that key — partial credit included — and the student gets a score with an explanation.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86600" y="237744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86600" y="24871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0" y="237744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0" y="24871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years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86600" y="388620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86600" y="39959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4617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0" y="388620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0" y="39959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4617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440680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0E2E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key stays unreadable until the student submits — only the grading step ever touches 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43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invented three answers —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marked them verified.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063240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1546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30632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question, the extraction model produced fluent, plausible Arabic answers that were nowhere in the exam paper — and dropped four real ones. The row was stored as clean, needing no review.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12280" y="3063240"/>
            <a:ext cx="4663440" cy="2103120"/>
          </a:xfrm>
          <a:prstGeom prst="roundRect">
            <a:avLst>
              <a:gd name="adj" fmla="val 3478"/>
            </a:avLst>
          </a:prstGeom>
          <a:solidFill>
            <a:srgbClr val="E4A1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0" y="32918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way we found it was reading the original PDF, line by line, against the output.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44074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check would have caught it. Confidence scores said everything was fine.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715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risk every AI project carries. Most vendors will not show it to you.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took the guessing out of the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2971800"/>
          </a:xfrm>
          <a:prstGeom prst="roundRect">
            <a:avLst>
              <a:gd name="adj" fmla="val 2462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8483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read the PDF and decided the structure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mistakes looked exactly like content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measured by a confidence score, not by truth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steps — one of them unverifiable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46520" y="1874520"/>
            <a:ext cx="5257800" cy="2971800"/>
          </a:xfrm>
          <a:prstGeom prst="roundRect">
            <a:avLst>
              <a:gd name="adj" fmla="val 2462"/>
            </a:avLst>
          </a:prstGeom>
          <a:solidFill>
            <a:srgbClr val="E9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0" y="208483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60604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version of each paper, checked once by a human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parser: same input, same output, every time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whole-paper audit — the marks must add up to the official total or the import stops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C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— none of them guessing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5120640"/>
            <a:ext cx="10820095" cy="868680"/>
          </a:xfrm>
          <a:prstGeom prst="roundRect">
            <a:avLst>
              <a:gd name="adj" fmla="val 8421"/>
            </a:avLst>
          </a:prstGeom>
          <a:solidFill>
            <a:srgbClr val="0E2E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512064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was removed from the one place where being wrong is invisible.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bought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499284" cy="1508760"/>
          </a:xfrm>
          <a:prstGeom prst="roundRect">
            <a:avLst>
              <a:gd name="adj" fmla="val 4848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901952"/>
            <a:ext cx="24992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A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15184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needing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9404" y="1783080"/>
            <a:ext cx="2499284" cy="1508760"/>
          </a:xfrm>
          <a:prstGeom prst="roundRect">
            <a:avLst>
              <a:gd name="adj" fmla="val 4848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59404" y="1901952"/>
            <a:ext cx="24992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59404" y="2615184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imported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marking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499284" cy="1508760"/>
          </a:xfrm>
          <a:prstGeom prst="roundRect">
            <a:avLst>
              <a:gd name="adj" fmla="val 4848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3008" y="1901952"/>
            <a:ext cx="24992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33008" y="2615184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611" y="1783080"/>
            <a:ext cx="2499284" cy="1508760"/>
          </a:xfrm>
          <a:prstGeom prst="roundRect">
            <a:avLst>
              <a:gd name="adj" fmla="val 4848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06611" y="1901952"/>
            <a:ext cx="24992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› 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06611" y="2615184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85800" y="3611880"/>
          <a:ext cx="69494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909560" y="3611880"/>
            <a:ext cx="3596335" cy="2514600"/>
          </a:xfrm>
          <a:prstGeom prst="roundRect">
            <a:avLst>
              <a:gd name="adj" fmla="val 2909"/>
            </a:avLst>
          </a:prstGeom>
          <a:solidFill>
            <a:srgbClr val="E9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75320" y="3840480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paper now imports clean.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8006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we stopped checking — because the check is now arithmetic. If a single question's marks are wrong, the whole paper refuses to load.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PRINCIPLE, ELSEWHERE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tutor that will not improvise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27168" cy="1600200"/>
          </a:xfrm>
          <a:prstGeom prst="roundRect">
            <a:avLst>
              <a:gd name="adj" fmla="val 4571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21992"/>
            <a:ext cx="502920" cy="50292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48840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to the curriculum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69464"/>
            <a:ext cx="385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restricted to the official material for three subjects. Nothing else is in scope.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227168" cy="1600200"/>
          </a:xfrm>
          <a:prstGeom prst="roundRect">
            <a:avLst>
              <a:gd name="adj" fmla="val 4571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4488" y="2221992"/>
            <a:ext cx="502920" cy="50292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44488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84568" y="2148840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Refuses instead of inventing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84568" y="2569464"/>
            <a:ext cx="385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Out-of-syllabus questions get an honest "this is not in the curriculum", not a confident guess.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794760"/>
            <a:ext cx="5227168" cy="1600200"/>
          </a:xfrm>
          <a:prstGeom prst="roundRect">
            <a:avLst>
              <a:gd name="adj" fmla="val 4571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142232"/>
            <a:ext cx="502920" cy="50292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69080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in the student's language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489704"/>
            <a:ext cx="385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in, Arabic out — with the source section it came from.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8728" y="3794760"/>
            <a:ext cx="5227168" cy="1600200"/>
          </a:xfrm>
          <a:prstGeom prst="roundRect">
            <a:avLst>
              <a:gd name="adj" fmla="val 4571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4488" y="4142232"/>
            <a:ext cx="502920" cy="502920"/>
          </a:xfrm>
          <a:prstGeom prst="ellipse">
            <a:avLst/>
          </a:prstGeom>
          <a:solidFill>
            <a:srgbClr val="2A7F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44488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84568" y="4069080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phrases, it does not decide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84568" y="4489704"/>
            <a:ext cx="385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rewrites approved content for a fifteen-year-old. It never supplies the content itself.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6235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"curriculum" for "your product manual", "your policy handbook" or "your case files" — the architecture does not change.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hire us and not the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93976"/>
            <a:ext cx="438912" cy="438912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093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56816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56816"/>
            <a:ext cx="65681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traces back to a source you approved. You can point at the line it came from.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F6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3191256"/>
            <a:ext cx="438912" cy="438912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054096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054096"/>
            <a:ext cx="65681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your accounts and writes to your database. No lock-in, no hostage data.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EEF4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288536"/>
            <a:ext cx="438912" cy="438912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151376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to change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151376"/>
            <a:ext cx="65681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change every few months. The pipeline around them does not — swap one out in an afternoon.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5800" y="512064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F6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5385816"/>
            <a:ext cx="438912" cy="438912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5385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248656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on a hard case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248656"/>
            <a:ext cx="65681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Arabic, right-to-left, scanned ministry PDFs and official marking schemes. Your documents are probably easier.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1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A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515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an audit,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contract.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C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steps. You can stop after the first one and still be ahead.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3429000"/>
            <a:ext cx="5181448" cy="1920240"/>
          </a:xfrm>
          <a:prstGeom prst="roundRect">
            <a:avLst>
              <a:gd name="adj" fmla="val 3810"/>
            </a:avLst>
          </a:prstGeom>
          <a:solidFill>
            <a:srgbClr val="1546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639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A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639312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session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206240"/>
            <a:ext cx="435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 your process with your team and come back with a map of where automation would actually pay — scored, and yours to keep.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3429000"/>
            <a:ext cx="5181448" cy="1920240"/>
          </a:xfrm>
          <a:prstGeom prst="roundRect">
            <a:avLst>
              <a:gd name="adj" fmla="val 3810"/>
            </a:avLst>
          </a:prstGeom>
          <a:solidFill>
            <a:srgbClr val="E4A1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35928" y="3639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558888" y="3639312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weeks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735928" y="4206240"/>
            <a:ext cx="435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one that matters most. We build it on your real documents and hand you working output, not a prototype.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715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Chehade   ·   mschehade03@gmail.com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Automation Services</dc:title>
  <dc:subject>PptxGenJS Presentation</dc:subject>
  <dc:creator>Mohamad Chehade</dc:creator>
  <cp:lastModifiedBy>Mohamad Chehade</cp:lastModifiedBy>
  <cp:revision>1</cp:revision>
  <dcterms:created xsi:type="dcterms:W3CDTF">2026-09-13T21:49:15Z</dcterms:created>
  <dcterms:modified xsi:type="dcterms:W3CDTF">2026-09-13T21:49:16Z</dcterms:modified>
</cp:coreProperties>
</file>