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6315F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754880"/>
            <a:ext cx="2926080" cy="2926080"/>
          </a:xfrm>
          <a:prstGeom prst="ellipse">
            <a:avLst/>
          </a:prstGeom>
          <a:solidFill>
            <a:srgbClr val="26315F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22960"/>
            <a:ext cx="822960" cy="82296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5" name="Image 0" descr="icons/map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02870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OPPORTUNITY AUDIT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2697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Cafeteria Case Study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411480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26315F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4343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0" name="Image 1" descr="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37" y="4456557"/>
            <a:ext cx="276606" cy="2766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4937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68680" y="5212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repetitive decisions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206240" y="411480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26315F"/>
          </a:solidFill>
          <a:ln/>
        </p:spPr>
      </p:sp>
      <p:sp>
        <p:nvSpPr>
          <p:cNvPr id="14" name="Shape 10"/>
          <p:cNvSpPr/>
          <p:nvPr/>
        </p:nvSpPr>
        <p:spPr>
          <a:xfrm>
            <a:off x="4434840" y="4343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5" name="Image 2" descr="icons/trendin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997" y="445655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34840" y="4937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434840" y="5212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automation opportunities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772400" y="4114800"/>
            <a:ext cx="3246120" cy="1737360"/>
          </a:xfrm>
          <a:prstGeom prst="roundRect">
            <a:avLst>
              <a:gd name="adj" fmla="val 4211"/>
            </a:avLst>
          </a:prstGeom>
          <a:solidFill>
            <a:srgbClr val="26315F"/>
          </a:solidFill>
          <a:ln/>
        </p:spPr>
      </p:sp>
      <p:sp>
        <p:nvSpPr>
          <p:cNvPr id="19" name="Shape 14"/>
          <p:cNvSpPr/>
          <p:nvPr/>
        </p:nvSpPr>
        <p:spPr>
          <a:xfrm>
            <a:off x="8001000" y="43434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0" name="Image 3" descr="icons/shuff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157" y="445655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001000" y="4937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001000" y="5212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workflows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Questions We Asked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5F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icons/search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2384298"/>
            <a:ext cx="352044" cy="3520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tools are used now?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0175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the current workflow and systems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5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24028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icons/clo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538" y="2384298"/>
            <a:ext cx="352044" cy="3520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2219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time wasted?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46520" y="301752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delays, queues, and manual handoffs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2976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5FA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457200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2" descr="icons/packag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418" y="4716018"/>
            <a:ext cx="352044" cy="3520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5537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data stuck?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14400" y="53492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information trapped in one person's head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2976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4F5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57200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3" descr="icons/shuff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538" y="4716018"/>
            <a:ext cx="352044" cy="3520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55371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patterned decisions exist?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46520" y="534924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repeat and can be automated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40280" y="502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· ROUTING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Order Routing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DEDEE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288036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icons/shuff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3314700"/>
            <a:ext cx="868680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754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decides every order by hand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057400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2528316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22037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decision point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92040" y="26060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 decides snack vs. meal for every order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06240" y="3456432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5" name="Shape 12"/>
          <p:cNvSpPr/>
          <p:nvPr/>
        </p:nvSpPr>
        <p:spPr>
          <a:xfrm>
            <a:off x="4480560" y="3927348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360273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92040" y="40050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long waiting lines at peak hours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06240" y="4855464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9" name="Shape 16"/>
          <p:cNvSpPr/>
          <p:nvPr/>
        </p:nvSpPr>
        <p:spPr>
          <a:xfrm>
            <a:off x="4480560" y="5326380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50017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mistakes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892040" y="540410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judgment calls lead to misrouted orders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40280" y="502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1 · ROUTING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Workflow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7D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 </a:t>
            </a:r>
            <a:pPr indent="0" marL="0">
              <a:buNone/>
            </a:pPr>
            <a:r>
              <a:rPr lang="en-US" sz="135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order = snack → send to snack bar.  If order = meal → send to kitchen.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9" name="Image 0" descr="icons/user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689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placed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41732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submits order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11168" y="3424428"/>
            <a:ext cx="37490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0436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14" name="Image 1" descr="icons/search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0" y="32689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160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tags order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18160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or meal, auto-detected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75448" y="3424428"/>
            <a:ext cx="37490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8" name="Shape 14"/>
          <p:cNvSpPr/>
          <p:nvPr/>
        </p:nvSpPr>
        <p:spPr>
          <a:xfrm>
            <a:off x="816864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19" name="Image 2" descr="icons/shuff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32689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4588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Auto-dispatch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94588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 bar or kitchen queue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24" name="Shape 19"/>
          <p:cNvSpPr/>
          <p:nvPr/>
        </p:nvSpPr>
        <p:spPr>
          <a:xfrm>
            <a:off x="868680" y="562356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25" name="Image 3" descr="icons/trending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574700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600200" y="57790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 and shorter lines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40280" y="502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 · INVENTORY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Inventory Management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DEDEE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288036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icons/packag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3314700"/>
            <a:ext cx="868680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754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counted and tracked by hand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057400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2528316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22037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tracking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92040" y="26060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count and record stock levels by hand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06240" y="3456432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5" name="Shape 12"/>
          <p:cNvSpPr/>
          <p:nvPr/>
        </p:nvSpPr>
        <p:spPr>
          <a:xfrm>
            <a:off x="4480560" y="3927348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360273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Shortages or overstock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92040" y="40050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lead to running out or over-ordering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06240" y="4855464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9" name="Shape 16"/>
          <p:cNvSpPr/>
          <p:nvPr/>
        </p:nvSpPr>
        <p:spPr>
          <a:xfrm>
            <a:off x="4480560" y="5326380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50017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Reactive, not proactive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892040" y="540410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noticed only after they happen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40280" y="502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2 · INVENTORY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 Workflow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7D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 </a:t>
            </a:r>
            <a:pPr indent="0" marL="0">
              <a:buNone/>
            </a:pPr>
            <a:r>
              <a:rPr lang="en-US" sz="135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stock level &lt; threshold → trigger restock request.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9" name="Image 0" descr="icons/packag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689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monitored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41732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 per item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11168" y="3424428"/>
            <a:ext cx="37490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0436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14" name="Image 1" descr="icons/search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0" y="32689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160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18160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par level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75448" y="3424428"/>
            <a:ext cx="37490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8" name="Shape 14"/>
          <p:cNvSpPr/>
          <p:nvPr/>
        </p:nvSpPr>
        <p:spPr>
          <a:xfrm>
            <a:off x="816864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19" name="Image 2" descr="icons/bell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32689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4588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auto-purchase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94588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request sent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24" name="Shape 19"/>
          <p:cNvSpPr/>
          <p:nvPr/>
        </p:nvSpPr>
        <p:spPr>
          <a:xfrm>
            <a:off x="868680" y="562356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25" name="Image 3" descr="icons/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574700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600200" y="57790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stock and fewer shortages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40280" y="502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 · QUEUE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Waiting Lines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DEDEE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288036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icons/clo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3314700"/>
            <a:ext cx="868680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754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how long the line really is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057400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2528316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22037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frustration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92040" y="26060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Long, unpredictable wait times at peak hours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06240" y="3456432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5" name="Shape 12"/>
          <p:cNvSpPr/>
          <p:nvPr/>
        </p:nvSpPr>
        <p:spPr>
          <a:xfrm>
            <a:off x="4480560" y="3927348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360273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calls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92040" y="40050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decide when to act based on gut feel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06240" y="4855464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9" name="Shape 16"/>
          <p:cNvSpPr/>
          <p:nvPr/>
        </p:nvSpPr>
        <p:spPr>
          <a:xfrm>
            <a:off x="4480560" y="5326380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50017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monitoring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892040" y="540410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queue length or wait time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40280" y="502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3 · QUEUE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Workflow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7D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 </a:t>
            </a:r>
            <a:pPr indent="0" marL="0">
              <a:buNone/>
            </a:pPr>
            <a:r>
              <a:rPr lang="en-US" sz="135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wait time &gt; 10 minutes → system notifies staff to act.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9" name="Image 0" descr="icons/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689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 tracked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41732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queue monitoring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11168" y="3424428"/>
            <a:ext cx="37490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0436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14" name="Image 1" descr="icons/activity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0" y="32689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160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check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18160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10-minute limit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75448" y="3424428"/>
            <a:ext cx="37490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8" name="Shape 14"/>
          <p:cNvSpPr/>
          <p:nvPr/>
        </p:nvSpPr>
        <p:spPr>
          <a:xfrm>
            <a:off x="816864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19" name="Image 2" descr="icons/bell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32689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4588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notified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94588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sends live alert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24" name="Shape 19"/>
          <p:cNvSpPr/>
          <p:nvPr/>
        </p:nvSpPr>
        <p:spPr>
          <a:xfrm>
            <a:off x="868680" y="562356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25" name="Image 3" descr="icons/us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574700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600200" y="57790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wait times and happier customers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40280" y="502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4 · EXPENSES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Expense Logging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291840" cy="3977640"/>
          </a:xfrm>
          <a:prstGeom prst="roundRect">
            <a:avLst>
              <a:gd name="adj" fmla="val 2222"/>
            </a:avLst>
          </a:prstGeom>
          <a:solidFill>
            <a:srgbClr val="FDEDEE"/>
          </a:solidFill>
          <a:ln/>
        </p:spPr>
      </p:sp>
      <p:sp>
        <p:nvSpPr>
          <p:cNvPr id="7" name="Shape 5"/>
          <p:cNvSpPr/>
          <p:nvPr/>
        </p:nvSpPr>
        <p:spPr>
          <a:xfrm>
            <a:off x="1417320" y="2880360"/>
            <a:ext cx="1737360" cy="173736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8" name="Image 0" descr="icons/filetex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660" y="3314700"/>
            <a:ext cx="868680" cy="868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754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9A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receipt sorted and typed by hand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06240" y="2057400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1" name="Shape 8"/>
          <p:cNvSpPr/>
          <p:nvPr/>
        </p:nvSpPr>
        <p:spPr>
          <a:xfrm>
            <a:off x="4480560" y="2528316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9"/>
          <p:cNvSpPr/>
          <p:nvPr/>
        </p:nvSpPr>
        <p:spPr>
          <a:xfrm>
            <a:off x="4892040" y="2203704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 risk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892040" y="260604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filed under the wrong category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06240" y="3456432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5" name="Shape 12"/>
          <p:cNvSpPr/>
          <p:nvPr/>
        </p:nvSpPr>
        <p:spPr>
          <a:xfrm>
            <a:off x="4480560" y="3927348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3602736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reports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892040" y="40050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records make reporting unreliable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06240" y="4855464"/>
            <a:ext cx="7315200" cy="1143000"/>
          </a:xfrm>
          <a:prstGeom prst="roundRect">
            <a:avLst>
              <a:gd name="adj" fmla="val 6400"/>
            </a:avLst>
          </a:prstGeom>
          <a:solidFill>
            <a:srgbClr val="F4F5FA"/>
          </a:solidFill>
          <a:ln/>
        </p:spPr>
      </p:sp>
      <p:sp>
        <p:nvSpPr>
          <p:cNvPr id="19" name="Shape 16"/>
          <p:cNvSpPr/>
          <p:nvPr/>
        </p:nvSpPr>
        <p:spPr>
          <a:xfrm>
            <a:off x="4480560" y="5326380"/>
            <a:ext cx="201168" cy="20116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5001768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892040" y="540410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 manually logging every expense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240280" y="502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4 · EXPENSES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Workflow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7D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  </a:t>
            </a:r>
            <a:pPr indent="0" marL="0">
              <a:buNone/>
            </a:pPr>
            <a:r>
              <a:rPr lang="en-US" sz="135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→ Ingredients.  Cleaning → Maintenance.  Applied automatically.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F4F5FA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9" name="Image 0" descr="icons/filetext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26898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entered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41732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or invoice logged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11168" y="3424428"/>
            <a:ext cx="37490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3" name="Shape 10"/>
          <p:cNvSpPr/>
          <p:nvPr/>
        </p:nvSpPr>
        <p:spPr>
          <a:xfrm>
            <a:off x="440436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14" name="Image 1" descr="icons/search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240" y="32689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8160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detected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18160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matches expense type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775448" y="3424428"/>
            <a:ext cx="374904" cy="146304"/>
          </a:xfrm>
          <a:prstGeom prst="rightArrow">
            <a:avLst/>
          </a:prstGeom>
          <a:solidFill>
            <a:srgbClr val="6B7280"/>
          </a:solidFill>
          <a:ln/>
        </p:spPr>
      </p:sp>
      <p:sp>
        <p:nvSpPr>
          <p:cNvPr id="18" name="Shape 14"/>
          <p:cNvSpPr/>
          <p:nvPr/>
        </p:nvSpPr>
        <p:spPr>
          <a:xfrm>
            <a:off x="8168640" y="2880360"/>
            <a:ext cx="3352800" cy="1234440"/>
          </a:xfrm>
          <a:prstGeom prst="roundRect">
            <a:avLst>
              <a:gd name="adj" fmla="val 7407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5400000">
              <a:srgbClr val="1B1F3B">
                <a:alpha val="18000"/>
              </a:srgbClr>
            </a:outerShdw>
          </a:effectLst>
        </p:spPr>
      </p:sp>
      <p:pic>
        <p:nvPicPr>
          <p:cNvPr id="19" name="Image 2" descr="icons/check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1520" y="326898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945880" y="2971800"/>
            <a:ext cx="239268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Auto-categorized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945880" y="3497580"/>
            <a:ext cx="2392680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to the right ledger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5440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</p:sp>
      <p:sp>
        <p:nvSpPr>
          <p:cNvPr id="24" name="Shape 19"/>
          <p:cNvSpPr/>
          <p:nvPr/>
        </p:nvSpPr>
        <p:spPr>
          <a:xfrm>
            <a:off x="868680" y="5623560"/>
            <a:ext cx="548640" cy="54864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25" name="Image 3" descr="icons/trending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574700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600200" y="5532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1600200" y="57790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reports and easier tracking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Four Workflows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805940" y="2674620"/>
            <a:ext cx="4274820" cy="754380"/>
          </a:xfrm>
          <a:prstGeom prst="line">
            <a:avLst/>
          </a:prstGeom>
          <a:noFill/>
          <a:ln w="25400">
            <a:solidFill>
              <a:srgbClr val="C7CCE4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 flipV="1">
            <a:off x="1805940" y="3429000"/>
            <a:ext cx="4274820" cy="1257300"/>
          </a:xfrm>
          <a:prstGeom prst="line">
            <a:avLst/>
          </a:prstGeom>
          <a:noFill/>
          <a:ln w="25400">
            <a:solidFill>
              <a:srgbClr val="C7CCE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V="1">
            <a:off x="6080760" y="2674620"/>
            <a:ext cx="4274820" cy="754380"/>
          </a:xfrm>
          <a:prstGeom prst="line">
            <a:avLst/>
          </a:prstGeom>
          <a:noFill/>
          <a:ln w="25400">
            <a:solidFill>
              <a:srgbClr val="C7CCE4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080760" y="3429000"/>
            <a:ext cx="4274820" cy="1257300"/>
          </a:xfrm>
          <a:prstGeom prst="line">
            <a:avLst/>
          </a:prstGeom>
          <a:noFill/>
          <a:ln w="25400">
            <a:solidFill>
              <a:srgbClr val="C7CCE4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5FA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237744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0" descr="icons/shuff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691" y="2511171"/>
            <a:ext cx="326898" cy="32689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2951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54480" y="26791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service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41605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5FA"/>
          </a:solidFill>
          <a:ln/>
        </p:spPr>
      </p:sp>
      <p:sp>
        <p:nvSpPr>
          <p:cNvPr id="14" name="Shape 11"/>
          <p:cNvSpPr/>
          <p:nvPr/>
        </p:nvSpPr>
        <p:spPr>
          <a:xfrm>
            <a:off x="822960" y="438912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1" descr="icons/packag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91" y="4522851"/>
            <a:ext cx="326898" cy="3268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43068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554480" y="4690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supplies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9189720" y="214884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5FA"/>
          </a:solidFill>
          <a:ln/>
        </p:spPr>
      </p:sp>
      <p:sp>
        <p:nvSpPr>
          <p:cNvPr id="19" name="Shape 15"/>
          <p:cNvSpPr/>
          <p:nvPr/>
        </p:nvSpPr>
        <p:spPr>
          <a:xfrm>
            <a:off x="9372600" y="237744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2" descr="icons/c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6331" y="2511171"/>
            <a:ext cx="326898" cy="32689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104120" y="22951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0104120" y="267919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experience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9189720" y="416052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4F5FA"/>
          </a:solidFill>
          <a:ln/>
        </p:spPr>
      </p:sp>
      <p:sp>
        <p:nvSpPr>
          <p:cNvPr id="24" name="Shape 19"/>
          <p:cNvSpPr/>
          <p:nvPr/>
        </p:nvSpPr>
        <p:spPr>
          <a:xfrm>
            <a:off x="9372600" y="438912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5" name="Image 3" descr="icons/filetex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6331" y="4522851"/>
            <a:ext cx="326898" cy="32689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104120" y="430682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10104120" y="46908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reports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937760" y="2880360"/>
            <a:ext cx="2286000" cy="1097280"/>
          </a:xfrm>
          <a:prstGeom prst="roundRect">
            <a:avLst>
              <a:gd name="adj" fmla="val 8333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27000" dist="50800" dir="5400000">
              <a:srgbClr val="1B1F3B">
                <a:alpha val="2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5788152" y="2999232"/>
            <a:ext cx="585216" cy="585216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30" name="Image 4" descr="icons/map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9826" y="3130906"/>
            <a:ext cx="321869" cy="32186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937760" y="359359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Improvements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457432" y="6510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C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15F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-1645920"/>
            <a:ext cx="3291840" cy="3291840"/>
          </a:xfrm>
          <a:prstGeom prst="ellipse">
            <a:avLst/>
          </a:prstGeom>
          <a:solidFill>
            <a:srgbClr val="2631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04672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26315F"/>
          </a:solidFill>
          <a:ln/>
        </p:spPr>
      </p:sp>
      <p:sp>
        <p:nvSpPr>
          <p:cNvPr id="7" name="Shape 5"/>
          <p:cNvSpPr/>
          <p:nvPr/>
        </p:nvSpPr>
        <p:spPr>
          <a:xfrm>
            <a:off x="1531620" y="2167128"/>
            <a:ext cx="731520" cy="73152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8" name="Image 0" descr="icons/c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3500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waiting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47288" y="187452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26315F"/>
          </a:solidFill>
          <a:ln/>
        </p:spPr>
      </p:sp>
      <p:sp>
        <p:nvSpPr>
          <p:cNvPr id="11" name="Shape 8"/>
          <p:cNvSpPr/>
          <p:nvPr/>
        </p:nvSpPr>
        <p:spPr>
          <a:xfrm>
            <a:off x="4338828" y="2167128"/>
            <a:ext cx="731520" cy="73152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2" name="Image 1" descr="icons/packag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8" y="235000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84448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shortages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54496" y="187452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26315F"/>
          </a:solidFill>
          <a:ln/>
        </p:spPr>
      </p:sp>
      <p:sp>
        <p:nvSpPr>
          <p:cNvPr id="15" name="Shape 11"/>
          <p:cNvSpPr/>
          <p:nvPr/>
        </p:nvSpPr>
        <p:spPr>
          <a:xfrm>
            <a:off x="7146036" y="2167128"/>
            <a:ext cx="731520" cy="73152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16" name="Image 2" descr="icons/filetex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916" y="23500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reports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9061704" y="1874520"/>
            <a:ext cx="2514600" cy="1920240"/>
          </a:xfrm>
          <a:prstGeom prst="roundRect">
            <a:avLst>
              <a:gd name="adj" fmla="val 4286"/>
            </a:avLst>
          </a:prstGeom>
          <a:solidFill>
            <a:srgbClr val="26315F"/>
          </a:solidFill>
          <a:ln/>
        </p:spPr>
      </p:sp>
      <p:sp>
        <p:nvSpPr>
          <p:cNvPr id="19" name="Shape 14"/>
          <p:cNvSpPr/>
          <p:nvPr/>
        </p:nvSpPr>
        <p:spPr>
          <a:xfrm>
            <a:off x="9953244" y="2167128"/>
            <a:ext cx="731520" cy="731520"/>
          </a:xfrm>
          <a:prstGeom prst="ellipse">
            <a:avLst/>
          </a:prstGeom>
          <a:solidFill>
            <a:srgbClr val="F9E795"/>
          </a:solidFill>
          <a:ln/>
        </p:spPr>
      </p:sp>
      <p:pic>
        <p:nvPicPr>
          <p:cNvPr id="20" name="Image 3" descr="icons/user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6124" y="235000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98864" y="306324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Happier staff &amp; customers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640080" y="416052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F9E795"/>
          </a:solidFill>
          <a:ln/>
        </p:spPr>
      </p:sp>
      <p:sp>
        <p:nvSpPr>
          <p:cNvPr id="23" name="Text 17"/>
          <p:cNvSpPr/>
          <p:nvPr/>
        </p:nvSpPr>
        <p:spPr>
          <a:xfrm>
            <a:off x="914400" y="416052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reactive to proactive operations</a:t>
            </a:r>
            <a:endParaRPr lang="en-US" sz="2400" dirty="0"/>
          </a:p>
        </p:txBody>
      </p:sp>
      <p:sp>
        <p:nvSpPr>
          <p:cNvPr id="24" name="Text 18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 ·  CAFETERIA CASE STUDY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2026-07-10T08:17:17Z</dcterms:created>
  <dcterms:modified xsi:type="dcterms:W3CDTF">2026-07-10T08:17:17Z</dcterms:modified>
</cp:coreProperties>
</file>